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Libre Baskerville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LibreBaskerville-bold.fntdata"/><Relationship Id="rId14" Type="http://schemas.openxmlformats.org/officeDocument/2006/relationships/slide" Target="slides/slide9.xml"/><Relationship Id="rId36" Type="http://schemas.openxmlformats.org/officeDocument/2006/relationships/font" Target="fonts/LibreBaskerville-regular.fntdata"/><Relationship Id="rId17" Type="http://schemas.openxmlformats.org/officeDocument/2006/relationships/slide" Target="slides/slide12.xml"/><Relationship Id="rId39" Type="http://schemas.openxmlformats.org/officeDocument/2006/relationships/font" Target="fonts/LibreBaskerville-boldItalic.fntdata"/><Relationship Id="rId16" Type="http://schemas.openxmlformats.org/officeDocument/2006/relationships/slide" Target="slides/slide11.xml"/><Relationship Id="rId38" Type="http://schemas.openxmlformats.org/officeDocument/2006/relationships/font" Target="fonts/LibreBaskerville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88f42c0b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88f42c0b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d6efc1118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d6efc1118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d6efc1118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d6efc1118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d6efc1118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d6efc1118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d6efc1118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d6efc1118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d6efc1118_1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d6efc1118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d6efc1118_1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d6efc1118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d6efc1118_1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d6efc1118_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d6efc1118_1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d6efc1118_1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d6efc1118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d6efc1118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d6efc1118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d6efc1118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d6efc1118_2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d6efc1118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d6efc1118_2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d6efc1118_2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d6efc1118_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d6efc1118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d6efc1118_2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d6efc1118_2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d6efc1118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d6efc1118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d6efc1118_2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ad6efc1118_2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d6efc1118_2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ad6efc1118_2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d6efc1118_2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ad6efc1118_2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d6efc1118_2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ad6efc1118_2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d6efc1118_2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d6efc1118_2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d6efc1118_2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ad6efc1118_2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d6efc1118_2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ad6efc1118_2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d6efc1118_2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ad6efc1118_2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ad6efc1118_2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ad6efc1118_2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d6efc1118_2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ad6efc1118_2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d6efc1118_2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ad6efc1118_2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ad6efc1118_2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ad6efc1118_2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ad6efc1118_2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ad6efc1118_2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Relationship Id="rId4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1.png"/><Relationship Id="rId4" Type="http://schemas.openxmlformats.org/officeDocument/2006/relationships/image" Target="../media/image38.png"/><Relationship Id="rId5" Type="http://schemas.openxmlformats.org/officeDocument/2006/relationships/image" Target="../media/image3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9.png"/><Relationship Id="rId4" Type="http://schemas.openxmlformats.org/officeDocument/2006/relationships/image" Target="../media/image29.png"/><Relationship Id="rId5" Type="http://schemas.openxmlformats.org/officeDocument/2006/relationships/image" Target="../media/image4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Relationship Id="rId4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0" y="0"/>
            <a:ext cx="9343200" cy="1588200"/>
          </a:xfrm>
          <a:prstGeom prst="rect">
            <a:avLst/>
          </a:prstGeom>
          <a:solidFill>
            <a:srgbClr val="1155CC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448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Closed-loop learning clustering and data </a:t>
            </a:r>
            <a:r>
              <a:rPr lang="it" sz="448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autophagy</a:t>
            </a:r>
            <a:endParaRPr sz="4480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031615"/>
            <a:ext cx="8520600" cy="9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Gabriele Cerioli</a:t>
            </a:r>
            <a:endParaRPr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Supervisor: Matteo Marsili</a:t>
            </a:r>
            <a:endParaRPr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700" y="3154187"/>
            <a:ext cx="5317751" cy="169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8000" y="3095350"/>
            <a:ext cx="2025724" cy="18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0" y="0"/>
            <a:ext cx="9144000" cy="585600"/>
          </a:xfrm>
          <a:prstGeom prst="rect">
            <a:avLst/>
          </a:prstGeom>
          <a:solidFill>
            <a:srgbClr val="1155CC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lt1"/>
                </a:solidFill>
              </a:rPr>
              <a:t>What is machine learning?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198075" y="825275"/>
            <a:ext cx="8104200" cy="3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it" sz="1800">
                <a:solidFill>
                  <a:schemeClr val="dk1"/>
                </a:solidFill>
              </a:rPr>
              <a:t>Algorithms that allow computer to learn from data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it" sz="1800">
                <a:solidFill>
                  <a:schemeClr val="dk1"/>
                </a:solidFill>
              </a:rPr>
              <a:t>Improve performance on a task without being </a:t>
            </a:r>
            <a:r>
              <a:rPr lang="it" sz="1800">
                <a:solidFill>
                  <a:schemeClr val="dk1"/>
                </a:solidFill>
              </a:rPr>
              <a:t>explicitly</a:t>
            </a:r>
            <a:r>
              <a:rPr lang="it" sz="1800">
                <a:solidFill>
                  <a:schemeClr val="dk1"/>
                </a:solidFill>
              </a:rPr>
              <a:t> programmed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405575" y="2046325"/>
            <a:ext cx="1456500" cy="820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Data preprocessing</a:t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2609013" y="2046325"/>
            <a:ext cx="1272000" cy="820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Model training</a:t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4627950" y="2046325"/>
            <a:ext cx="1272000" cy="820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Model evaluation</a:t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6623900" y="2046325"/>
            <a:ext cx="1967100" cy="820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Prediction/Inference</a:t>
            </a:r>
            <a:endParaRPr/>
          </a:p>
        </p:txBody>
      </p:sp>
      <p:cxnSp>
        <p:nvCxnSpPr>
          <p:cNvPr id="68" name="Google Shape;68;p14"/>
          <p:cNvCxnSpPr>
            <a:stCxn id="64" idx="3"/>
            <a:endCxn id="65" idx="1"/>
          </p:cNvCxnSpPr>
          <p:nvPr/>
        </p:nvCxnSpPr>
        <p:spPr>
          <a:xfrm>
            <a:off x="1862075" y="2456575"/>
            <a:ext cx="747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" name="Google Shape;69;p14"/>
          <p:cNvCxnSpPr/>
          <p:nvPr/>
        </p:nvCxnSpPr>
        <p:spPr>
          <a:xfrm>
            <a:off x="3869488" y="2456575"/>
            <a:ext cx="747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" name="Google Shape;70;p14"/>
          <p:cNvCxnSpPr/>
          <p:nvPr/>
        </p:nvCxnSpPr>
        <p:spPr>
          <a:xfrm>
            <a:off x="5828588" y="2456575"/>
            <a:ext cx="747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0" y="0"/>
            <a:ext cx="9144000" cy="585600"/>
          </a:xfrm>
          <a:prstGeom prst="rect">
            <a:avLst/>
          </a:prstGeom>
          <a:solidFill>
            <a:srgbClr val="1155CC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lt1"/>
                </a:solidFill>
              </a:rPr>
              <a:t>       Supervised learning                     </a:t>
            </a:r>
            <a:r>
              <a:rPr lang="it">
                <a:solidFill>
                  <a:schemeClr val="lt1"/>
                </a:solidFill>
              </a:rPr>
              <a:t>Unsupervised</a:t>
            </a:r>
            <a:r>
              <a:rPr lang="it">
                <a:solidFill>
                  <a:schemeClr val="lt1"/>
                </a:solidFill>
              </a:rPr>
              <a:t> learning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76" name="Google Shape;76;p15"/>
          <p:cNvCxnSpPr>
            <a:stCxn id="75" idx="2"/>
            <a:endCxn id="77" idx="0"/>
          </p:cNvCxnSpPr>
          <p:nvPr/>
        </p:nvCxnSpPr>
        <p:spPr>
          <a:xfrm>
            <a:off x="4572000" y="585600"/>
            <a:ext cx="9300" cy="202290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5"/>
          <p:cNvSpPr txBox="1"/>
          <p:nvPr/>
        </p:nvSpPr>
        <p:spPr>
          <a:xfrm>
            <a:off x="239650" y="829600"/>
            <a:ext cx="37701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The model is trained on labeled data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4964050" y="945125"/>
            <a:ext cx="37701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Must find hidden patterns in the dataset on its own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80" name="Google Shape;80;p15" title="images_imgupscaler.ai_General_16K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6527" y="2156950"/>
            <a:ext cx="6430930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0" y="0"/>
            <a:ext cx="9144000" cy="585600"/>
          </a:xfrm>
          <a:prstGeom prst="rect">
            <a:avLst/>
          </a:prstGeom>
          <a:solidFill>
            <a:srgbClr val="1155CC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lt1"/>
                </a:solidFill>
              </a:rPr>
              <a:t>Supervised learning: Email spam classification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304188" y="1105131"/>
            <a:ext cx="1525500" cy="859200"/>
          </a:xfrm>
          <a:prstGeom prst="rect">
            <a:avLst/>
          </a:prstGeom>
          <a:solidFill>
            <a:schemeClr val="lt2"/>
          </a:solidFill>
          <a:ln cap="flat" cmpd="sng" w="99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750" lIns="95750" spcFirstLastPara="1" rIns="95750" wrap="square" tIns="95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466"/>
              <a:t>Data preprocessing</a:t>
            </a:r>
            <a:endParaRPr sz="1466"/>
          </a:p>
        </p:txBody>
      </p:sp>
      <p:sp>
        <p:nvSpPr>
          <p:cNvPr id="87" name="Google Shape;87;p16"/>
          <p:cNvSpPr/>
          <p:nvPr/>
        </p:nvSpPr>
        <p:spPr>
          <a:xfrm>
            <a:off x="2370521" y="921800"/>
            <a:ext cx="1737300" cy="1226100"/>
          </a:xfrm>
          <a:prstGeom prst="rect">
            <a:avLst/>
          </a:prstGeom>
          <a:solidFill>
            <a:schemeClr val="lt2"/>
          </a:solidFill>
          <a:ln cap="flat" cmpd="sng" w="99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750" lIns="95750" spcFirstLastPara="1" rIns="95750" wrap="square" tIns="95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466"/>
              <a:t>Train with million of spam and non spam emails</a:t>
            </a:r>
            <a:endParaRPr sz="1466"/>
          </a:p>
        </p:txBody>
      </p:sp>
      <p:sp>
        <p:nvSpPr>
          <p:cNvPr id="88" name="Google Shape;88;p16"/>
          <p:cNvSpPr/>
          <p:nvPr/>
        </p:nvSpPr>
        <p:spPr>
          <a:xfrm>
            <a:off x="4726296" y="1105131"/>
            <a:ext cx="1332300" cy="859200"/>
          </a:xfrm>
          <a:prstGeom prst="rect">
            <a:avLst/>
          </a:prstGeom>
          <a:solidFill>
            <a:schemeClr val="lt2"/>
          </a:solidFill>
          <a:ln cap="flat" cmpd="sng" w="99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750" lIns="95750" spcFirstLastPara="1" rIns="95750" wrap="square" tIns="95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466"/>
              <a:t>Test it with new emails</a:t>
            </a:r>
            <a:endParaRPr sz="1466"/>
          </a:p>
        </p:txBody>
      </p:sp>
      <p:sp>
        <p:nvSpPr>
          <p:cNvPr id="89" name="Google Shape;89;p16"/>
          <p:cNvSpPr/>
          <p:nvPr/>
        </p:nvSpPr>
        <p:spPr>
          <a:xfrm>
            <a:off x="6816662" y="1105131"/>
            <a:ext cx="2060100" cy="859200"/>
          </a:xfrm>
          <a:prstGeom prst="rect">
            <a:avLst/>
          </a:prstGeom>
          <a:solidFill>
            <a:schemeClr val="lt2"/>
          </a:solidFill>
          <a:ln cap="flat" cmpd="sng" w="99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750" lIns="95750" spcFirstLastPara="1" rIns="95750" wrap="square" tIns="95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466"/>
              <a:t>We can now use the model</a:t>
            </a:r>
            <a:endParaRPr sz="1466"/>
          </a:p>
        </p:txBody>
      </p:sp>
      <p:cxnSp>
        <p:nvCxnSpPr>
          <p:cNvPr id="90" name="Google Shape;90;p16"/>
          <p:cNvCxnSpPr>
            <a:stCxn id="86" idx="3"/>
            <a:endCxn id="87" idx="1"/>
          </p:cNvCxnSpPr>
          <p:nvPr/>
        </p:nvCxnSpPr>
        <p:spPr>
          <a:xfrm>
            <a:off x="1829688" y="1534731"/>
            <a:ext cx="540900" cy="0"/>
          </a:xfrm>
          <a:prstGeom prst="straightConnector1">
            <a:avLst/>
          </a:prstGeom>
          <a:noFill/>
          <a:ln cap="flat" cmpd="sng" w="29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" name="Google Shape;91;p16"/>
          <p:cNvCxnSpPr>
            <a:stCxn id="87" idx="3"/>
          </p:cNvCxnSpPr>
          <p:nvPr/>
        </p:nvCxnSpPr>
        <p:spPr>
          <a:xfrm>
            <a:off x="4107821" y="1534850"/>
            <a:ext cx="606600" cy="0"/>
          </a:xfrm>
          <a:prstGeom prst="straightConnector1">
            <a:avLst/>
          </a:prstGeom>
          <a:noFill/>
          <a:ln cap="flat" cmpd="sng" w="29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" name="Google Shape;92;p16"/>
          <p:cNvCxnSpPr/>
          <p:nvPr/>
        </p:nvCxnSpPr>
        <p:spPr>
          <a:xfrm>
            <a:off x="6058453" y="1534788"/>
            <a:ext cx="782400" cy="0"/>
          </a:xfrm>
          <a:prstGeom prst="straightConnector1">
            <a:avLst/>
          </a:prstGeom>
          <a:noFill/>
          <a:ln cap="flat" cmpd="sng" w="29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" name="Google Shape;93;p16"/>
          <p:cNvSpPr txBox="1"/>
          <p:nvPr/>
        </p:nvSpPr>
        <p:spPr>
          <a:xfrm>
            <a:off x="248850" y="2230700"/>
            <a:ext cx="86463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900">
                <a:solidFill>
                  <a:schemeClr val="dk1"/>
                </a:solidFill>
              </a:rPr>
              <a:t>That’s why sometimes Gmail asks you if the email is to be considered spam.</a:t>
            </a:r>
            <a:br>
              <a:rPr lang="it" sz="1900">
                <a:solidFill>
                  <a:schemeClr val="dk1"/>
                </a:solidFill>
              </a:rPr>
            </a:br>
            <a:r>
              <a:rPr lang="it" sz="1900">
                <a:solidFill>
                  <a:schemeClr val="dk1"/>
                </a:solidFill>
              </a:rPr>
              <a:t>To gain new human-supervisioned data to </a:t>
            </a:r>
            <a:r>
              <a:rPr lang="it" sz="1900">
                <a:solidFill>
                  <a:schemeClr val="dk1"/>
                </a:solidFill>
              </a:rPr>
              <a:t>further train their model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94" name="Google Shape;9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9200" y="3005100"/>
            <a:ext cx="4825600" cy="206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0" y="0"/>
            <a:ext cx="9144000" cy="585600"/>
          </a:xfrm>
          <a:prstGeom prst="rect">
            <a:avLst/>
          </a:prstGeom>
          <a:solidFill>
            <a:srgbClr val="1155CC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lt1"/>
                </a:solidFill>
              </a:rPr>
              <a:t>Unsupervised learning: Clustering problems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0" name="Google Shape;100;p17" title="clustering_examp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925" y="765675"/>
            <a:ext cx="7482134" cy="425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0" y="0"/>
            <a:ext cx="9144000" cy="585600"/>
          </a:xfrm>
          <a:prstGeom prst="rect">
            <a:avLst/>
          </a:prstGeom>
          <a:solidFill>
            <a:srgbClr val="1155CC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lt1"/>
                </a:solidFill>
              </a:rPr>
              <a:t>Iris flower dataset: an interesting playground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267300" y="811750"/>
            <a:ext cx="40098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it" sz="1900">
                <a:solidFill>
                  <a:schemeClr val="dk1"/>
                </a:solidFill>
              </a:rPr>
              <a:t>Data about three different plant species collected in 1936 by Ronald A. Fisher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it" sz="1900">
                <a:solidFill>
                  <a:schemeClr val="dk1"/>
                </a:solidFill>
              </a:rPr>
              <a:t>150 samples with 50 samples for each species of Iris flowers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107" name="Google Shape;107;p18" title="iris-machinelearn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288" y="2571750"/>
            <a:ext cx="6507724" cy="243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 title="iris_measurement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8987" y="811750"/>
            <a:ext cx="2064188" cy="2229323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/>
        </p:nvSpPr>
        <p:spPr>
          <a:xfrm>
            <a:off x="6876425" y="3161675"/>
            <a:ext cx="2096700" cy="7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We have 4 measures for each sample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0" y="0"/>
            <a:ext cx="9144000" cy="585600"/>
          </a:xfrm>
          <a:prstGeom prst="rect">
            <a:avLst/>
          </a:prstGeom>
          <a:solidFill>
            <a:srgbClr val="1155CC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lt1"/>
                </a:solidFill>
              </a:rPr>
              <a:t>K-means algorithm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184350" y="691325"/>
            <a:ext cx="8895000" cy="15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arenR"/>
            </a:pPr>
            <a:r>
              <a:rPr lang="it" sz="2000">
                <a:solidFill>
                  <a:schemeClr val="dk2"/>
                </a:solidFill>
              </a:rPr>
              <a:t>Initialization: </a:t>
            </a:r>
            <a:r>
              <a:rPr lang="it" sz="2000">
                <a:solidFill>
                  <a:schemeClr val="dk2"/>
                </a:solidFill>
              </a:rPr>
              <a:t>choose</a:t>
            </a:r>
            <a:r>
              <a:rPr lang="it" sz="2000">
                <a:solidFill>
                  <a:schemeClr val="dk2"/>
                </a:solidFill>
              </a:rPr>
              <a:t> K random centroids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arenR"/>
            </a:pPr>
            <a:r>
              <a:rPr lang="it" sz="2000">
                <a:solidFill>
                  <a:schemeClr val="dk2"/>
                </a:solidFill>
              </a:rPr>
              <a:t>Assignment step: assign each point to the closest cluster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arenR"/>
            </a:pPr>
            <a:r>
              <a:rPr lang="it" sz="2000">
                <a:solidFill>
                  <a:schemeClr val="dk2"/>
                </a:solidFill>
              </a:rPr>
              <a:t>Update step: </a:t>
            </a:r>
            <a:r>
              <a:rPr lang="it" sz="2000">
                <a:solidFill>
                  <a:schemeClr val="dk2"/>
                </a:solidFill>
              </a:rPr>
              <a:t>centroids</a:t>
            </a:r>
            <a:r>
              <a:rPr lang="it" sz="2000">
                <a:solidFill>
                  <a:schemeClr val="dk2"/>
                </a:solidFill>
              </a:rPr>
              <a:t> are recalculated using the mean of each cluster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arenR"/>
            </a:pPr>
            <a:r>
              <a:rPr lang="it" sz="2000">
                <a:solidFill>
                  <a:schemeClr val="dk2"/>
                </a:solidFill>
              </a:rPr>
              <a:t>REPEAT TO CONVERGENCE</a:t>
            </a:r>
            <a:endParaRPr sz="2000">
              <a:solidFill>
                <a:schemeClr val="dk2"/>
              </a:solidFill>
            </a:endParaRPr>
          </a:p>
        </p:txBody>
      </p:sp>
      <p:pic>
        <p:nvPicPr>
          <p:cNvPr id="116" name="Google Shape;116;p19" title="images_imgupscaler.ai_Beta_4K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451" y="2203050"/>
            <a:ext cx="7532800" cy="2769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0" y="0"/>
            <a:ext cx="9144000" cy="585600"/>
          </a:xfrm>
          <a:prstGeom prst="rect">
            <a:avLst/>
          </a:prstGeom>
          <a:solidFill>
            <a:srgbClr val="1155CC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lt1"/>
                </a:solidFill>
              </a:rPr>
              <a:t>K-means on Iris dataset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22" name="Google Shape;122;p20" title="k_means_cluster_grid_page-000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0825" y="585600"/>
            <a:ext cx="5646536" cy="4516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0" y="0"/>
            <a:ext cx="9144000" cy="585600"/>
          </a:xfrm>
          <a:prstGeom prst="rect">
            <a:avLst/>
          </a:prstGeom>
          <a:solidFill>
            <a:srgbClr val="1155CC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lt1"/>
                </a:solidFill>
              </a:rPr>
              <a:t>Soft/Fuzzy </a:t>
            </a:r>
            <a:r>
              <a:rPr lang="it">
                <a:solidFill>
                  <a:schemeClr val="lt1"/>
                </a:solidFill>
              </a:rPr>
              <a:t>K-means algorithm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184350" y="691325"/>
            <a:ext cx="8443500" cy="15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1"/>
                </a:solidFill>
              </a:rPr>
              <a:t>The main difference is that we don’t force each data point to belong to only one cluster (hard assignments) but we define a degree of membership </a:t>
            </a:r>
            <a:r>
              <a:rPr lang="it" sz="2000">
                <a:solidFill>
                  <a:schemeClr val="dk1"/>
                </a:solidFill>
              </a:rPr>
              <a:t>(responsibility r)</a:t>
            </a:r>
            <a:r>
              <a:rPr lang="it" sz="2000">
                <a:solidFill>
                  <a:schemeClr val="dk1"/>
                </a:solidFill>
              </a:rPr>
              <a:t> to each cluster.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29" name="Google Shape;129;p21" title="lagrida_latex_edit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5550" y="1724025"/>
            <a:ext cx="6332899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1" title="lagrida_latex_editor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450" y="3616400"/>
            <a:ext cx="3825376" cy="143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1"/>
          <p:cNvSpPr txBox="1"/>
          <p:nvPr/>
        </p:nvSpPr>
        <p:spPr>
          <a:xfrm>
            <a:off x="4802450" y="3770050"/>
            <a:ext cx="40467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Now the updating of the centroids is a weighted means, where the weights are the responsibilities r.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0" y="0"/>
            <a:ext cx="9144000" cy="585600"/>
          </a:xfrm>
          <a:prstGeom prst="rect">
            <a:avLst/>
          </a:prstGeom>
          <a:solidFill>
            <a:srgbClr val="1155CC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lt1"/>
                </a:solidFill>
              </a:rPr>
              <a:t>Soft K-means on Iris Dataset with stiffness 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37" name="Google Shape;137;p22" title="lagrida_latex_editor(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2398" y="89001"/>
            <a:ext cx="1294950" cy="40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2" title="soft_k_means_cluster_grid_page-0001(1)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2613" y="585600"/>
            <a:ext cx="5698770" cy="455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title"/>
          </p:nvPr>
        </p:nvSpPr>
        <p:spPr>
          <a:xfrm>
            <a:off x="0" y="1235200"/>
            <a:ext cx="9144000" cy="866400"/>
          </a:xfrm>
          <a:prstGeom prst="rect">
            <a:avLst/>
          </a:prstGeom>
          <a:solidFill>
            <a:srgbClr val="1155CC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4100">
                <a:solidFill>
                  <a:schemeClr val="lt1"/>
                </a:solidFill>
              </a:rPr>
              <a:t>How to evaluate the clustering quality?</a:t>
            </a:r>
            <a:endParaRPr sz="4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0" y="0"/>
            <a:ext cx="9144000" cy="585600"/>
          </a:xfrm>
          <a:prstGeom prst="rect">
            <a:avLst/>
          </a:prstGeom>
          <a:solidFill>
            <a:srgbClr val="1155CC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lt1"/>
                </a:solidFill>
              </a:rPr>
              <a:t>Purity Score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49" name="Google Shape;149;p24" title="lagrida_latex_editor(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8062" y="1267599"/>
            <a:ext cx="7101975" cy="197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4"/>
          <p:cNvSpPr txBox="1"/>
          <p:nvPr/>
        </p:nvSpPr>
        <p:spPr>
          <a:xfrm>
            <a:off x="119825" y="654450"/>
            <a:ext cx="86556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To calculate the purity score we need the ground truth (       )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51" name="Google Shape;151;p24" title="lagrida_latex_editor(8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0925" y="697798"/>
            <a:ext cx="276525" cy="35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4"/>
          <p:cNvSpPr txBox="1"/>
          <p:nvPr/>
        </p:nvSpPr>
        <p:spPr>
          <a:xfrm>
            <a:off x="258100" y="3511950"/>
            <a:ext cx="80841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        is the set of points in the cluster k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3" name="Google Shape;153;p24" title="lagrida_latex_editor(9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100" y="3511950"/>
            <a:ext cx="453914" cy="4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0" y="0"/>
            <a:ext cx="9144000" cy="585600"/>
          </a:xfrm>
          <a:prstGeom prst="rect">
            <a:avLst/>
          </a:prstGeom>
          <a:solidFill>
            <a:srgbClr val="1155CC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lt1"/>
                </a:solidFill>
              </a:rPr>
              <a:t>Davies-Bouldin Index  (internal metric)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59" name="Google Shape;15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350" y="811462"/>
            <a:ext cx="7472948" cy="3929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324" y="191775"/>
            <a:ext cx="5585577" cy="259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313" y="3148827"/>
            <a:ext cx="8793373" cy="1842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41875"/>
            <a:ext cx="8839200" cy="381116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7"/>
          <p:cNvSpPr txBox="1"/>
          <p:nvPr/>
        </p:nvSpPr>
        <p:spPr>
          <a:xfrm>
            <a:off x="170275" y="4274000"/>
            <a:ext cx="79692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300">
                <a:solidFill>
                  <a:schemeClr val="dk1"/>
                </a:solidFill>
              </a:rPr>
              <a:t>We </a:t>
            </a:r>
            <a:r>
              <a:rPr lang="it" sz="2300">
                <a:solidFill>
                  <a:schemeClr val="dk1"/>
                </a:solidFill>
              </a:rPr>
              <a:t>expect</a:t>
            </a:r>
            <a:r>
              <a:rPr lang="it" sz="2300">
                <a:solidFill>
                  <a:schemeClr val="dk1"/>
                </a:solidFill>
              </a:rPr>
              <a:t> the index to be as little as possible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>
            <p:ph type="title"/>
          </p:nvPr>
        </p:nvSpPr>
        <p:spPr>
          <a:xfrm>
            <a:off x="0" y="0"/>
            <a:ext cx="9144000" cy="585600"/>
          </a:xfrm>
          <a:prstGeom prst="rect">
            <a:avLst/>
          </a:prstGeom>
          <a:solidFill>
            <a:srgbClr val="1155CC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lt1"/>
                </a:solidFill>
              </a:rPr>
              <a:t>Infomax based metric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7" name="Google Shape;177;p28"/>
          <p:cNvSpPr txBox="1"/>
          <p:nvPr/>
        </p:nvSpPr>
        <p:spPr>
          <a:xfrm>
            <a:off x="119825" y="654450"/>
            <a:ext cx="86556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300">
                <a:solidFill>
                  <a:schemeClr val="dk1"/>
                </a:solidFill>
              </a:rPr>
              <a:t>Since we know that the information collected by the dataset can be quantifies by the Shannon entropy, we can take the entropy as a metric:</a:t>
            </a:r>
            <a:endParaRPr sz="2300">
              <a:solidFill>
                <a:schemeClr val="dk1"/>
              </a:solidFill>
            </a:endParaRPr>
          </a:p>
        </p:txBody>
      </p:sp>
      <p:sp>
        <p:nvSpPr>
          <p:cNvPr id="178" name="Google Shape;178;p28"/>
          <p:cNvSpPr txBox="1"/>
          <p:nvPr/>
        </p:nvSpPr>
        <p:spPr>
          <a:xfrm>
            <a:off x="258100" y="3511950"/>
            <a:ext cx="80841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79" name="Google Shape;179;p28" title="lagrida_latex_editor(1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5425" y="0"/>
            <a:ext cx="751275" cy="51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8" title="lagrida_latex_editor(1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950" y="2112532"/>
            <a:ext cx="8084098" cy="1738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/>
          <p:nvPr>
            <p:ph type="title"/>
          </p:nvPr>
        </p:nvSpPr>
        <p:spPr>
          <a:xfrm>
            <a:off x="0" y="0"/>
            <a:ext cx="9144000" cy="585600"/>
          </a:xfrm>
          <a:prstGeom prst="rect">
            <a:avLst/>
          </a:prstGeom>
          <a:solidFill>
            <a:srgbClr val="1155CC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lt1"/>
                </a:solidFill>
              </a:rPr>
              <a:t>Kmeans evaluation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86" name="Google Shape;18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650" y="669863"/>
            <a:ext cx="3773102" cy="215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4450" y="711185"/>
            <a:ext cx="3928301" cy="207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35602" y="2910910"/>
            <a:ext cx="3472796" cy="20533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type="title"/>
          </p:nvPr>
        </p:nvSpPr>
        <p:spPr>
          <a:xfrm>
            <a:off x="0" y="0"/>
            <a:ext cx="9144000" cy="585600"/>
          </a:xfrm>
          <a:prstGeom prst="rect">
            <a:avLst/>
          </a:prstGeom>
          <a:solidFill>
            <a:srgbClr val="1155CC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lt1"/>
                </a:solidFill>
              </a:rPr>
              <a:t>Soft </a:t>
            </a:r>
            <a:r>
              <a:rPr lang="it">
                <a:solidFill>
                  <a:schemeClr val="lt1"/>
                </a:solidFill>
              </a:rPr>
              <a:t>Kmeans evaluation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94" name="Google Shape;19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250" y="738000"/>
            <a:ext cx="3417188" cy="2020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3663" y="738000"/>
            <a:ext cx="3378435" cy="2020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0625" y="2910910"/>
            <a:ext cx="3505758" cy="20801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>
            <p:ph type="title"/>
          </p:nvPr>
        </p:nvSpPr>
        <p:spPr>
          <a:xfrm>
            <a:off x="0" y="322200"/>
            <a:ext cx="9144000" cy="866400"/>
          </a:xfrm>
          <a:prstGeom prst="rect">
            <a:avLst/>
          </a:prstGeom>
          <a:solidFill>
            <a:srgbClr val="1155CC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4100">
                <a:solidFill>
                  <a:schemeClr val="lt1"/>
                </a:solidFill>
              </a:rPr>
              <a:t>What is Closed-loop learning?</a:t>
            </a:r>
            <a:endParaRPr sz="4100">
              <a:solidFill>
                <a:schemeClr val="lt1"/>
              </a:solidFill>
            </a:endParaRPr>
          </a:p>
        </p:txBody>
      </p:sp>
      <p:pic>
        <p:nvPicPr>
          <p:cNvPr id="202" name="Google Shape;202;p31" title="tb9phkfrl6p4x7paarb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1600" y="1341000"/>
            <a:ext cx="5920802" cy="365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/>
          <p:nvPr>
            <p:ph type="title"/>
          </p:nvPr>
        </p:nvSpPr>
        <p:spPr>
          <a:xfrm>
            <a:off x="0" y="0"/>
            <a:ext cx="9144000" cy="585600"/>
          </a:xfrm>
          <a:prstGeom prst="rect">
            <a:avLst/>
          </a:prstGeom>
          <a:solidFill>
            <a:srgbClr val="1155CC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it">
                <a:solidFill>
                  <a:schemeClr val="lt1"/>
                </a:solidFill>
              </a:rPr>
              <a:t>Our Closed-loop learning algorithm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8" name="Google Shape;208;p32"/>
          <p:cNvSpPr txBox="1"/>
          <p:nvPr/>
        </p:nvSpPr>
        <p:spPr>
          <a:xfrm>
            <a:off x="104550" y="717850"/>
            <a:ext cx="8802600" cy="40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9" name="Google Shape;209;p32"/>
          <p:cNvSpPr txBox="1"/>
          <p:nvPr/>
        </p:nvSpPr>
        <p:spPr>
          <a:xfrm>
            <a:off x="341500" y="683000"/>
            <a:ext cx="8189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After doing a first </a:t>
            </a:r>
            <a:r>
              <a:rPr lang="it" sz="1800">
                <a:solidFill>
                  <a:schemeClr val="dk1"/>
                </a:solidFill>
              </a:rPr>
              <a:t>K Means</a:t>
            </a:r>
            <a:r>
              <a:rPr lang="it" sz="1800">
                <a:solidFill>
                  <a:schemeClr val="dk1"/>
                </a:solidFill>
              </a:rPr>
              <a:t> clustering, we add M synthetic points (generated from the clusters </a:t>
            </a:r>
            <a:r>
              <a:rPr lang="it" sz="1800">
                <a:solidFill>
                  <a:schemeClr val="dk1"/>
                </a:solidFill>
              </a:rPr>
              <a:t>Gaussian</a:t>
            </a:r>
            <a:r>
              <a:rPr lang="it" sz="1800">
                <a:solidFill>
                  <a:schemeClr val="dk1"/>
                </a:solidFill>
              </a:rPr>
              <a:t> mixture), and repeat this cycle multiple times.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10" name="Google Shape;21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72" y="1519300"/>
            <a:ext cx="4154700" cy="3310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3675" y="1519300"/>
            <a:ext cx="4154700" cy="3310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2" name="Google Shape;212;p32"/>
          <p:cNvCxnSpPr>
            <a:stCxn id="210" idx="3"/>
            <a:endCxn id="211" idx="1"/>
          </p:cNvCxnSpPr>
          <p:nvPr/>
        </p:nvCxnSpPr>
        <p:spPr>
          <a:xfrm>
            <a:off x="4203472" y="3174450"/>
            <a:ext cx="73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3"/>
          <p:cNvSpPr txBox="1"/>
          <p:nvPr>
            <p:ph type="title"/>
          </p:nvPr>
        </p:nvSpPr>
        <p:spPr>
          <a:xfrm>
            <a:off x="0" y="0"/>
            <a:ext cx="9144000" cy="585600"/>
          </a:xfrm>
          <a:prstGeom prst="rect">
            <a:avLst/>
          </a:prstGeom>
          <a:solidFill>
            <a:srgbClr val="1155CC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120">
                <a:solidFill>
                  <a:schemeClr val="lt1"/>
                </a:solidFill>
              </a:rPr>
              <a:t>CLL as an evaluation of clustering quality</a:t>
            </a:r>
            <a:endParaRPr sz="212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>
              <a:solidFill>
                <a:schemeClr val="lt1"/>
              </a:solidFill>
            </a:endParaRPr>
          </a:p>
        </p:txBody>
      </p:sp>
      <p:sp>
        <p:nvSpPr>
          <p:cNvPr id="218" name="Google Shape;218;p33"/>
          <p:cNvSpPr txBox="1"/>
          <p:nvPr/>
        </p:nvSpPr>
        <p:spPr>
          <a:xfrm>
            <a:off x="216050" y="703900"/>
            <a:ext cx="84471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Firstly we compute the displacement of the centroids after the CLL execution.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19" name="Google Shape;21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9850" y="1183875"/>
            <a:ext cx="5664299" cy="379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4"/>
          <p:cNvSpPr txBox="1"/>
          <p:nvPr>
            <p:ph type="title"/>
          </p:nvPr>
        </p:nvSpPr>
        <p:spPr>
          <a:xfrm>
            <a:off x="0" y="0"/>
            <a:ext cx="9144000" cy="585600"/>
          </a:xfrm>
          <a:prstGeom prst="rect">
            <a:avLst/>
          </a:prstGeom>
          <a:solidFill>
            <a:srgbClr val="1155CC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120">
                <a:solidFill>
                  <a:schemeClr val="lt1"/>
                </a:solidFill>
              </a:rPr>
              <a:t>CLL as an evaluation of clustering quality</a:t>
            </a:r>
            <a:endParaRPr sz="212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>
              <a:solidFill>
                <a:schemeClr val="lt1"/>
              </a:solidFill>
            </a:endParaRPr>
          </a:p>
        </p:txBody>
      </p:sp>
      <p:sp>
        <p:nvSpPr>
          <p:cNvPr id="225" name="Google Shape;225;p34"/>
          <p:cNvSpPr txBox="1"/>
          <p:nvPr/>
        </p:nvSpPr>
        <p:spPr>
          <a:xfrm>
            <a:off x="216050" y="703900"/>
            <a:ext cx="84471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Then we confront the displacements with the distances between the original centroids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26" name="Google Shape;22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550" y="1616875"/>
            <a:ext cx="8839200" cy="133137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4"/>
          <p:cNvSpPr txBox="1"/>
          <p:nvPr/>
        </p:nvSpPr>
        <p:spPr>
          <a:xfrm>
            <a:off x="250900" y="3233850"/>
            <a:ext cx="8586600" cy="9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We expect this value to be as low as possible for a good clustering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5"/>
          <p:cNvSpPr txBox="1"/>
          <p:nvPr>
            <p:ph type="title"/>
          </p:nvPr>
        </p:nvSpPr>
        <p:spPr>
          <a:xfrm>
            <a:off x="0" y="0"/>
            <a:ext cx="9144000" cy="585600"/>
          </a:xfrm>
          <a:prstGeom prst="rect">
            <a:avLst/>
          </a:prstGeom>
          <a:solidFill>
            <a:srgbClr val="1155CC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120">
                <a:solidFill>
                  <a:schemeClr val="lt1"/>
                </a:solidFill>
              </a:rPr>
              <a:t>Can we use the CLL quality to find out the optimal number of clusters?</a:t>
            </a:r>
            <a:endParaRPr sz="212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>
              <a:solidFill>
                <a:schemeClr val="lt1"/>
              </a:solidFill>
            </a:endParaRPr>
          </a:p>
        </p:txBody>
      </p:sp>
      <p:pic>
        <p:nvPicPr>
          <p:cNvPr id="233" name="Google Shape;233;p35" title="number_cluster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1850" y="689225"/>
            <a:ext cx="5300299" cy="4253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6"/>
          <p:cNvSpPr txBox="1"/>
          <p:nvPr>
            <p:ph type="title"/>
          </p:nvPr>
        </p:nvSpPr>
        <p:spPr>
          <a:xfrm>
            <a:off x="0" y="0"/>
            <a:ext cx="9144000" cy="585600"/>
          </a:xfrm>
          <a:prstGeom prst="rect">
            <a:avLst/>
          </a:prstGeom>
          <a:solidFill>
            <a:srgbClr val="1155CC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120">
                <a:solidFill>
                  <a:schemeClr val="lt1"/>
                </a:solidFill>
              </a:rPr>
              <a:t>CLL as an inference device</a:t>
            </a:r>
            <a:endParaRPr sz="212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>
              <a:solidFill>
                <a:schemeClr val="lt1"/>
              </a:solidFill>
            </a:endParaRPr>
          </a:p>
        </p:txBody>
      </p:sp>
      <p:sp>
        <p:nvSpPr>
          <p:cNvPr id="239" name="Google Shape;239;p36"/>
          <p:cNvSpPr txBox="1"/>
          <p:nvPr/>
        </p:nvSpPr>
        <p:spPr>
          <a:xfrm>
            <a:off x="216050" y="703900"/>
            <a:ext cx="84471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The problem is the following: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40" name="Google Shape;24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52925"/>
            <a:ext cx="8839201" cy="2156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 txBox="1"/>
          <p:nvPr>
            <p:ph type="title"/>
          </p:nvPr>
        </p:nvSpPr>
        <p:spPr>
          <a:xfrm>
            <a:off x="0" y="0"/>
            <a:ext cx="9144000" cy="585600"/>
          </a:xfrm>
          <a:prstGeom prst="rect">
            <a:avLst/>
          </a:prstGeom>
          <a:solidFill>
            <a:srgbClr val="1155CC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120">
                <a:solidFill>
                  <a:schemeClr val="lt1"/>
                </a:solidFill>
              </a:rPr>
              <a:t>CLL as an inference device</a:t>
            </a:r>
            <a:endParaRPr sz="212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>
              <a:solidFill>
                <a:schemeClr val="lt1"/>
              </a:solidFill>
            </a:endParaRPr>
          </a:p>
        </p:txBody>
      </p:sp>
      <p:pic>
        <p:nvPicPr>
          <p:cNvPr id="246" name="Google Shape;24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38000"/>
            <a:ext cx="8839200" cy="3969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8"/>
          <p:cNvSpPr txBox="1"/>
          <p:nvPr>
            <p:ph type="title"/>
          </p:nvPr>
        </p:nvSpPr>
        <p:spPr>
          <a:xfrm>
            <a:off x="0" y="0"/>
            <a:ext cx="9144000" cy="585600"/>
          </a:xfrm>
          <a:prstGeom prst="rect">
            <a:avLst/>
          </a:prstGeom>
          <a:solidFill>
            <a:srgbClr val="1155CC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120">
                <a:solidFill>
                  <a:schemeClr val="lt1"/>
                </a:solidFill>
              </a:rPr>
              <a:t>CLL as an inference device</a:t>
            </a:r>
            <a:endParaRPr sz="212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>
              <a:solidFill>
                <a:schemeClr val="lt1"/>
              </a:solidFill>
            </a:endParaRPr>
          </a:p>
        </p:txBody>
      </p:sp>
      <p:sp>
        <p:nvSpPr>
          <p:cNvPr id="252" name="Google Shape;252;p38"/>
          <p:cNvSpPr txBox="1"/>
          <p:nvPr/>
        </p:nvSpPr>
        <p:spPr>
          <a:xfrm>
            <a:off x="202050" y="634225"/>
            <a:ext cx="87399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If we iterate this algorithm 1000 times we get: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53" name="Google Shape;253;p38" title="mean_metri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350" y="1094125"/>
            <a:ext cx="4475350" cy="354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8" title="stddev_metri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9425" y="1094125"/>
            <a:ext cx="4191775" cy="339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8"/>
          <p:cNvSpPr txBox="1"/>
          <p:nvPr/>
        </p:nvSpPr>
        <p:spPr>
          <a:xfrm>
            <a:off x="76675" y="4718350"/>
            <a:ext cx="88374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So it seems it doesn’t work…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9"/>
          <p:cNvSpPr txBox="1"/>
          <p:nvPr>
            <p:ph type="title"/>
          </p:nvPr>
        </p:nvSpPr>
        <p:spPr>
          <a:xfrm>
            <a:off x="0" y="1101200"/>
            <a:ext cx="9144000" cy="940800"/>
          </a:xfrm>
          <a:prstGeom prst="rect">
            <a:avLst/>
          </a:prstGeom>
          <a:solidFill>
            <a:srgbClr val="741B47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4120">
                <a:solidFill>
                  <a:schemeClr val="lt1"/>
                </a:solidFill>
              </a:rPr>
              <a:t>Data Autophagy</a:t>
            </a:r>
            <a:endParaRPr sz="412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0"/>
          <p:cNvSpPr txBox="1"/>
          <p:nvPr>
            <p:ph type="title"/>
          </p:nvPr>
        </p:nvSpPr>
        <p:spPr>
          <a:xfrm>
            <a:off x="0" y="0"/>
            <a:ext cx="9144000" cy="585600"/>
          </a:xfrm>
          <a:prstGeom prst="rect">
            <a:avLst/>
          </a:prstGeom>
          <a:solidFill>
            <a:srgbClr val="741B47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120">
                <a:solidFill>
                  <a:schemeClr val="lt1"/>
                </a:solidFill>
              </a:rPr>
              <a:t>What is Data Autophagy?</a:t>
            </a:r>
            <a:endParaRPr sz="212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>
              <a:solidFill>
                <a:schemeClr val="lt1"/>
              </a:solidFill>
            </a:endParaRPr>
          </a:p>
        </p:txBody>
      </p:sp>
      <p:sp>
        <p:nvSpPr>
          <p:cNvPr id="266" name="Google Shape;266;p40"/>
          <p:cNvSpPr txBox="1"/>
          <p:nvPr/>
        </p:nvSpPr>
        <p:spPr>
          <a:xfrm>
            <a:off x="198775" y="911075"/>
            <a:ext cx="16731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When generative AI models are increasingly trained on content that was also AI generated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67" name="Google Shape;267;p40" title="42256_2025_984_Fig1_HTML_Xing-Xiaoda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2575" y="741125"/>
            <a:ext cx="6675776" cy="440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1"/>
          <p:cNvSpPr txBox="1"/>
          <p:nvPr>
            <p:ph type="title"/>
          </p:nvPr>
        </p:nvSpPr>
        <p:spPr>
          <a:xfrm>
            <a:off x="0" y="0"/>
            <a:ext cx="9144000" cy="585600"/>
          </a:xfrm>
          <a:prstGeom prst="rect">
            <a:avLst/>
          </a:prstGeom>
          <a:solidFill>
            <a:srgbClr val="741B47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120">
                <a:solidFill>
                  <a:schemeClr val="lt1"/>
                </a:solidFill>
              </a:rPr>
              <a:t>Why is it a problem?</a:t>
            </a:r>
            <a:endParaRPr sz="212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>
              <a:solidFill>
                <a:schemeClr val="lt1"/>
              </a:solidFill>
            </a:endParaRPr>
          </a:p>
        </p:txBody>
      </p:sp>
      <p:sp>
        <p:nvSpPr>
          <p:cNvPr id="273" name="Google Shape;273;p41"/>
          <p:cNvSpPr txBox="1"/>
          <p:nvPr/>
        </p:nvSpPr>
        <p:spPr>
          <a:xfrm>
            <a:off x="256825" y="1445250"/>
            <a:ext cx="3503400" cy="22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The supply of high-quality human generated data is running out.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</a:rPr>
              <a:t>A possible outcome of data autophagy is </a:t>
            </a:r>
            <a:r>
              <a:rPr b="1" lang="it" sz="1800">
                <a:solidFill>
                  <a:schemeClr val="dk1"/>
                </a:solidFill>
              </a:rPr>
              <a:t>model collapse</a:t>
            </a:r>
            <a:r>
              <a:rPr lang="it" sz="1800">
                <a:solidFill>
                  <a:schemeClr val="dk1"/>
                </a:solidFill>
              </a:rPr>
              <a:t>, where the models lose the diversity of the original data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74" name="Google Shape;27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0775" y="822888"/>
            <a:ext cx="5247877" cy="3497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2"/>
          <p:cNvSpPr txBox="1"/>
          <p:nvPr>
            <p:ph type="title"/>
          </p:nvPr>
        </p:nvSpPr>
        <p:spPr>
          <a:xfrm>
            <a:off x="0" y="0"/>
            <a:ext cx="9144000" cy="585600"/>
          </a:xfrm>
          <a:prstGeom prst="rect">
            <a:avLst/>
          </a:prstGeom>
          <a:solidFill>
            <a:srgbClr val="741B47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120">
                <a:solidFill>
                  <a:schemeClr val="lt1"/>
                </a:solidFill>
              </a:rPr>
              <a:t>How can we prevent the inevitable model collapse?</a:t>
            </a:r>
            <a:endParaRPr sz="2520">
              <a:solidFill>
                <a:schemeClr val="lt1"/>
              </a:solidFill>
            </a:endParaRPr>
          </a:p>
        </p:txBody>
      </p:sp>
      <p:sp>
        <p:nvSpPr>
          <p:cNvPr id="280" name="Google Shape;280;p42"/>
          <p:cNvSpPr txBox="1"/>
          <p:nvPr/>
        </p:nvSpPr>
        <p:spPr>
          <a:xfrm>
            <a:off x="132525" y="4240650"/>
            <a:ext cx="8647200" cy="8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it" sz="1800">
                <a:solidFill>
                  <a:schemeClr val="dk1"/>
                </a:solidFill>
              </a:rPr>
              <a:t>It is demonstrated to only work for Exponential Families models by Marsili-Roudi-Jangjoo (July 2025)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81" name="Google Shape;281;p42"/>
          <p:cNvSpPr txBox="1"/>
          <p:nvPr/>
        </p:nvSpPr>
        <p:spPr>
          <a:xfrm>
            <a:off x="314725" y="927650"/>
            <a:ext cx="1673100" cy="4140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lt1"/>
                </a:solidFill>
              </a:rPr>
              <a:t>GOOD NEWS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82" name="Google Shape;282;p42"/>
          <p:cNvSpPr txBox="1"/>
          <p:nvPr/>
        </p:nvSpPr>
        <p:spPr>
          <a:xfrm>
            <a:off x="450550" y="3432325"/>
            <a:ext cx="1673100" cy="4140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lt1"/>
                </a:solidFill>
              </a:rPr>
              <a:t>BAD</a:t>
            </a:r>
            <a:r>
              <a:rPr lang="it" sz="1800">
                <a:solidFill>
                  <a:schemeClr val="lt1"/>
                </a:solidFill>
              </a:rPr>
              <a:t> NEWS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83" name="Google Shape;283;p42"/>
          <p:cNvSpPr txBox="1"/>
          <p:nvPr/>
        </p:nvSpPr>
        <p:spPr>
          <a:xfrm>
            <a:off x="314725" y="1461000"/>
            <a:ext cx="8647200" cy="8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it" sz="1800">
                <a:solidFill>
                  <a:schemeClr val="dk1"/>
                </a:solidFill>
              </a:rPr>
              <a:t>If you train a model using Maximum Likelihood on Purely Self-generated Data the model collapse is inevitable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it" sz="1800">
                <a:solidFill>
                  <a:schemeClr val="dk1"/>
                </a:solidFill>
              </a:rPr>
              <a:t>If you use a Maximum A Posteriori (MAP) regularization, it introduces a small external force that prevents model collapse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it" sz="1800">
                <a:solidFill>
                  <a:schemeClr val="dk1"/>
                </a:solidFill>
              </a:rPr>
              <a:t>If you include a small amount of non-AI-generated data (even one point) it is enough to prevent model collapse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84" name="Google Shape;284;p42" title="lagrida_latex_editor(1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3457" y="3578457"/>
            <a:ext cx="2626217" cy="5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42"/>
          <p:cNvSpPr txBox="1"/>
          <p:nvPr/>
        </p:nvSpPr>
        <p:spPr>
          <a:xfrm>
            <a:off x="5731425" y="3506100"/>
            <a:ext cx="30483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Where          are bounded functions of s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286" name="Google Shape;286;p42" title="lagrida_latex_editor(1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0100" y="3638750"/>
            <a:ext cx="404700" cy="1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